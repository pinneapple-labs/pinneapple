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000" i="0" b="1"/>
            </a:pPr>
            <a:r>
              <a:t>2004 Toyota Prius traction motor</a:t>
            </a:r>
          </a:p>
          <a:p>
            <a:pPr>
              <a:spcAft>
                <a:spcPts val="500"/>
              </a:spcAft>
              <a:defRPr sz="3000" i="0" b="0"/>
            </a:pPr>
            <a:r>
              <a:t>Verified FEA to drive, thermal, robustness and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01752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i="0" b="0"/>
            </a:pPr>
            <a:r>
              <a:t>Interior-PM, 48 slots, 8 poles, V magnets</a:t>
            </a:r>
          </a:p>
          <a:p>
            <a:pPr>
              <a:spcAft>
                <a:spcPts val="500"/>
              </a:spcAft>
              <a:defRPr sz="1800" i="0" b="0"/>
            </a:pPr>
            <a:r>
              <a:t>Open-source chain in PINNeAPPle</a:t>
            </a:r>
          </a:p>
          <a:p>
            <a:pPr>
              <a:spcAft>
                <a:spcPts val="500"/>
              </a:spcAft>
              <a:defRPr sz="1800" i="0" b="0"/>
            </a:pPr>
            <a:r>
              <a:t>Every number from the committed results of examples 10 to 17</a:t>
            </a:r>
          </a:p>
        </p:txBody>
      </p:sp>
      <p:pic>
        <p:nvPicPr>
          <p:cNvPr id="4" name="Picture 3" descr="10_pmsm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65760"/>
            <a:ext cx="7241922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i="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904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i="0" b="0"/>
            </a:pPr>
            <a:r>
              <a:t>Done: 2-D nonlinear FEA of the Prius motor, checked against closed forms, a second FEA code (GetDP) and a published torque curve; drive, end effects, thermal, demagnetisation, skew, tolerances, design.</a:t>
            </a:r>
          </a:p>
          <a:p>
            <a:pPr>
              <a:spcAft>
                <a:spcPts val="500"/>
              </a:spcAft>
              <a:defRPr sz="1800" i="0" b="0"/>
            </a:pPr>
            <a:r>
              <a:t>Torque at 250 A (R1, MTPA): 345.6 N m. Peak of the angle sweep 345.6 vs published 353 N m (-2.1 %); second code within 1.1 N m.</a:t>
            </a:r>
          </a:p>
          <a:p>
            <a:pPr>
              <a:spcAft>
                <a:spcPts val="500"/>
              </a:spcAft>
              <a:defRPr sz="1800" i="0" b="0"/>
            </a:pPr>
            <a:r>
              <a:t>WLTC 3b, illustrative car: 102.1 Wh/km battery-side (motor losses only).</a:t>
            </a:r>
          </a:p>
          <a:p>
            <a:pPr>
              <a:spcAft>
                <a:spcPts val="500"/>
              </a:spcAft>
              <a:defRPr sz="1800" i="0" b="0"/>
            </a:pPr>
            <a:r>
              <a:t>End effects: torque -2.6 % (magnet end leakage), high-speed envelope -11 % at 3000 rpm (end windings).</a:t>
            </a:r>
          </a:p>
          <a:p>
            <a:pPr>
              <a:spcAft>
                <a:spcPts val="500"/>
              </a:spcAft>
              <a:defRPr sz="1800" i="0" b="0"/>
            </a:pPr>
            <a:r>
              <a:t>Two-step skew: ripple 22.9 -&gt; 8.8 % for -2.0 % torque. FEA + GP + NSGA-II: 91-93 % fewer FEA calls at equal quality.</a:t>
            </a:r>
          </a:p>
          <a:p>
            <a:pPr>
              <a:spcAft>
                <a:spcPts val="500"/>
              </a:spcAft>
              <a:defRPr sz="1800" i="0" b="0"/>
            </a:pPr>
            <a:r>
              <a:t>Not verified: no measurement of this motor; cogging uncertain to ~25 % (two codes); thermal data illustrative; magnet grade unknown.</a:t>
            </a:r>
          </a:p>
          <a:p>
            <a:pPr>
              <a:spcAft>
                <a:spcPts val="500"/>
              </a:spcAft>
              <a:defRPr sz="1800" i="0" b="0"/>
            </a:pPr>
            <a:r>
              <a:t>Test-bench data that would close the gaps: torque vs current angle and back-EMF; cogging; winding and magnet temperatures over a cycle; standstill inductances; loss map.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09360"/>
            <a:ext cx="1136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i="1" b="0">
                <a:solidFill>
                  <a:srgbClr val="555555"/>
                </a:solidFill>
              </a:defRPr>
            </a:pPr>
            <a:r>
              <a:t>Limits: a model study from public data (pyleecan geometry, M400-50A steel).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i="0" b="1"/>
            </a:pPr>
            <a:r>
              <a:t>2-D FEA, verified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714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i="0" b="0"/>
            </a:pPr>
            <a:r>
              <a:t>Torque vs current angle at 250 A against Yang et al. 2013: rms difference 13.3 N m.</a:t>
            </a:r>
          </a:p>
          <a:p>
            <a:pPr>
              <a:spcAft>
                <a:spcPts val="500"/>
              </a:spcAft>
              <a:defRPr sz="1800" i="0" b="0"/>
            </a:pPr>
            <a:r>
              <a:t>Closed-form verification cases: 6 of 6 pass.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03120"/>
            <a:ext cx="6873903" cy="4160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59040" y="914400"/>
            <a:ext cx="4221480" cy="5212080"/>
          </a:xfrm>
          <a:prstGeom prst="rect">
            <a:avLst/>
          </a:prstGeom>
          <a:solidFill>
            <a:srgbClr val="EEF3F8"/>
          </a:solidFill>
          <a:ln>
            <a:solidFill>
              <a:srgbClr val="5B7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700" b="1">
                <a:solidFill>
                  <a:srgbClr val="1F2D3D"/>
                </a:solidFill>
              </a:defRPr>
            </a:pPr>
            <a:r>
              <a:t>Reference values (R)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Mesh: 960 gap nodes, 29936 elements; magnets 20 degC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R1  torque at 250 A, MTPA (50.3 deg), 12 rotor angles: 345.6 N m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R2  cogging pk-pk, 24 angles per slot pitch: 1.38 N m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R3  back-EMF fundamental, 1000 rpm: 87.6 V peak, THD 9.3 %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R4  L_d / L_q at R1: 1.386 / 2.435 mH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Other slides give their mesh or definition where it differs.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09360"/>
            <a:ext cx="1136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i="1" b="0">
                <a:solidFill>
                  <a:srgbClr val="555555"/>
                </a:solidFill>
              </a:defRPr>
            </a:pPr>
            <a:r>
              <a:t>Limits: 2-D; P1 elements; the published model and the pyleecan geometry differ (centre post, steel data).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i="0" b="1"/>
            </a:pPr>
            <a:r>
              <a:t>Second code: gmsh + GetDP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9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i="0" b="0"/>
            </a:pPr>
            <a:r>
              <a:t>Torque vs angle: within 1.09 N m (960 nodes, as R1); EMF 87.60 vs 87.64 V (R3).</a:t>
            </a:r>
          </a:p>
          <a:p>
            <a:pPr>
              <a:spcAft>
                <a:spcPts val="500"/>
              </a:spcAft>
              <a:defRPr sz="1800" i="0" b="0"/>
            </a:pPr>
            <a:r>
              <a:t>Cogging, 12 angles per slot pitch: 1.34 vs 1.00 N m at 1920 nodes; linear iron agrees (1.22 vs 1.21): the gap is in the saturated bridges.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65" y="2103120"/>
            <a:ext cx="11124869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309360"/>
            <a:ext cx="1136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i="1" b="0">
                <a:solidFill>
                  <a:srgbClr val="555555"/>
                </a:solidFill>
              </a:defRPr>
            </a:pPr>
            <a:r>
              <a:t>Limits: cogging uncertain by ~25 % between the codes; FEMM, pyleecan, Elmer not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i="0" b="1"/>
            </a:pPr>
            <a:r>
              <a:t>Drive: MTPA, flux weakening,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9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i="0" b="0"/>
            </a:pPr>
            <a:r>
              <a:t>250 A, 500 V DC (SVPWM), FEA flux map (480 gap nodes, interpolated): 343.6 N m at low speed, 77.7 kW peak.</a:t>
            </a:r>
          </a:p>
          <a:p>
            <a:pPr>
              <a:spcAft>
                <a:spcPts val="500"/>
              </a:spcAft>
              <a:defRPr sz="1800" i="0" b="0"/>
            </a:pPr>
            <a:r>
              <a:t>Peak efficiency 96.2 % at 2750 rpm; WLTC 3b 102.1 Wh/km (illustrative car).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926" y="2103120"/>
            <a:ext cx="8140148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309360"/>
            <a:ext cx="1136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i="1" b="0">
                <a:solidFill>
                  <a:srgbClr val="555555"/>
                </a:solidFill>
              </a:defRPr>
            </a:pPr>
            <a:r>
              <a:t>Limits: steady state; no inverter, mechanical or battery losses; the car is not a Prius.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i="0" b="1"/>
            </a:pPr>
            <a:r>
              <a:t>End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9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i="0" b="0"/>
            </a:pPr>
            <a:r>
              <a:t>End windings: L_end 135 uH (air) / 115 uH (iron face); envelope at 3000 rpm 239.3 -&gt; 213.3 N m.</a:t>
            </a:r>
          </a:p>
          <a:p>
            <a:pPr>
              <a:spcAft>
                <a:spcPts val="500"/>
              </a:spcAft>
              <a:defRPr sz="1800" i="0" b="0"/>
            </a:pPr>
            <a:r>
              <a:t>Magnet end leakage (3-D GetDP, 3 meshes): flux x0.948; R1 345.7 -&gt; 336.7 N m, R3 87.6 -&gt; 82.9 V.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01368"/>
            <a:ext cx="11369040" cy="4251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309360"/>
            <a:ext cx="1136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i="1" b="0">
                <a:solidFill>
                  <a:srgbClr val="555555"/>
                </a:solidFill>
              </a:defRPr>
            </a:pPr>
            <a:r>
              <a:t>Limits: corrections, not a coupled 3-D solution at load; no measured end-winding inductance.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i="0" b="1"/>
            </a:pPr>
            <a:r>
              <a:t>Magnet temperature and thermal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9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i="0" b="0"/>
            </a:pPr>
            <a:r>
              <a:t>Magnets 20 -&gt; 150 degC: R1 345.6 -&gt; 322.6 N m, R3 87.6 -&gt; 75.4 V.</a:t>
            </a:r>
          </a:p>
          <a:p>
            <a:pPr>
              <a:spcAft>
                <a:spcPts val="500"/>
              </a:spcAft>
              <a:defRPr sz="1800" i="0" b="0"/>
            </a:pPr>
            <a:r>
              <a:t>Peak load (343 N m, 1500 rpm) after 4 cycles: winding at 180 degC in 237 s; magnets settle at 127 degC.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65" y="2103120"/>
            <a:ext cx="11124869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309360"/>
            <a:ext cx="1136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i="1" b="0">
                <a:solidFill>
                  <a:srgbClr val="555555"/>
                </a:solidFill>
              </a:defRPr>
            </a:pPr>
            <a:r>
              <a:t>Limits: seven-node network, illustrative thermal data (not fitted to a Prius).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i="0" b="1"/>
            </a:pPr>
            <a:r>
              <a:t>Demagnetisation at the hottest magnet temperature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9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i="0" b="0"/>
            </a:pPr>
            <a:r>
              <a:t>Magnets at 127 degC, reverse field per element against Hcj(T) of each grade letter.</a:t>
            </a:r>
          </a:p>
          <a:p>
            <a:pPr>
              <a:spcAft>
                <a:spcPts val="500"/>
              </a:spcAft>
              <a:defRPr sz="1800" i="0" b="0"/>
            </a:pPr>
            <a:r>
              <a:t>Grade H loses 19 % of the magnet area at -250 A, SH 2.4 %; area fractions are mesh-converged.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01368"/>
            <a:ext cx="11369040" cy="4251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309360"/>
            <a:ext cx="1136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i="1" b="0">
                <a:solidFill>
                  <a:srgbClr val="555555"/>
                </a:solidFill>
              </a:defRPr>
            </a:pPr>
            <a:r>
              <a:t>Limits: Hcj coefficient assumed (-0.55 %/K); static knee test; the Prius grade was not found in public sources: the bars compare candidate grades.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i="0" b="1"/>
            </a:pPr>
            <a:r>
              <a:t>Step skew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9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i="0" b="0"/>
            </a:pPr>
            <a:r>
              <a:t>Two steps over 3.75 deg: cogging 1.35 -&gt; 0.62 N m (12 angles per slot pitch; R2 uses 24), ripple 22.9 -&gt; 8.8 %, R1 345.6 -&gt; 338.8 N m.</a:t>
            </a:r>
          </a:p>
          <a:p>
            <a:pPr>
              <a:spcAft>
                <a:spcPts val="500"/>
              </a:spcAft>
              <a:defRPr sz="1800" i="0" b="0"/>
            </a:pPr>
            <a:r>
              <a:t>Back-EMF fundamental x0.9659 = closed-form skew factor 0.9659.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65" y="2103120"/>
            <a:ext cx="11124869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309360"/>
            <a:ext cx="1136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i="1" b="0">
                <a:solidFill>
                  <a:srgbClr val="555555"/>
                </a:solidFill>
              </a:defRPr>
            </a:pPr>
            <a:r>
              <a:t>Limits: multi-slice: no inter-segment axial flux, no end effects.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i="0" b="1"/>
            </a:pPr>
            <a:r>
              <a:t>Manufacturing tolerances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9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i="0" b="0"/>
            </a:pPr>
            <a:r>
              <a:t>200 Monte-Carlo FEA samples (480 gap nodes; nominal 343.4 N m on that mesh, R1 at 960 nodes): torque sigma 1.96 N m (0.57 %).</a:t>
            </a:r>
          </a:p>
          <a:p>
            <a:pPr>
              <a:spcAft>
                <a:spcPts val="500"/>
              </a:spcAft>
              <a:defRPr sz="1800" i="0" b="0"/>
            </a:pPr>
            <a:r>
              <a:t>Remanence drives the torque spread, the air gap the ripple spread.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65" y="2103120"/>
            <a:ext cx="11124869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309360"/>
            <a:ext cx="1136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i="1" b="0">
                <a:solidFill>
                  <a:srgbClr val="555555"/>
                </a:solidFill>
              </a:defRPr>
            </a:pPr>
            <a:r>
              <a:t>Limits: the tolerance sigmas are assumptions, not measured spreads.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i="0" b="1"/>
            </a:pPr>
            <a:r>
              <a:t>Rotor design: FEA + Gaussian process + NSGA-II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9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i="0" b="0"/>
            </a:pPr>
            <a:r>
              <a:t>Equal quality: 51-53 FEA calls (hybrid, dots) vs 601-711 (NSGA-II on the FEA): 91-93 % fewer.</a:t>
            </a:r>
          </a:p>
          <a:p>
            <a:pPr>
              <a:spcAft>
                <a:spcPts val="500"/>
              </a:spcAft>
              <a:defRPr sz="1800" i="0" b="0"/>
            </a:pPr>
            <a:r>
              <a:t>Front designs beating the Prius rotor sit at the 1.0 mm bridge bound (Prius 1.5 mm); 288 gap nodes.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01368"/>
            <a:ext cx="11369040" cy="4251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309360"/>
            <a:ext cx="1136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i="1" b="0">
                <a:solidFill>
                  <a:srgbClr val="555555"/>
                </a:solidFill>
              </a:defRPr>
            </a:pPr>
            <a:r>
              <a:t>Limits: no bridge stress, demagnetisation or speed constraints: the method and its saving, not a better rotor.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i="0" b="1"/>
            </a:pPr>
            <a:r>
              <a:t>What is verified, what is not, what would close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9040" cy="270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i="0" b="0"/>
            </a:pPr>
            <a:r>
              <a:t>Verified: closed forms (FEM, filament inductance, thermal network, skew factor, drive optimiser); a second FEA code (torque, EMF, inductances); a published torque curve.</a:t>
            </a:r>
          </a:p>
          <a:p>
            <a:pPr>
              <a:spcAft>
                <a:spcPts val="500"/>
              </a:spcAft>
              <a:defRPr sz="1800" i="0" b="0"/>
            </a:pPr>
            <a:r>
              <a:t>Not verified: any measurement of this motor; cogging to better than ~25 %; thermal parameters; magnet grade; FEMM, pyleecan and Elmer runs (input files are written).</a:t>
            </a:r>
          </a:p>
          <a:p>
            <a:pPr>
              <a:spcAft>
                <a:spcPts val="500"/>
              </a:spcAft>
              <a:defRPr sz="1800" i="0" b="0"/>
            </a:pPr>
            <a:r>
              <a:t>Test bench: locked-rotor torque vs current angle; no-load back-EMF and cogging; thermocouples in winding and end winding over a WLTC; standstill L_d, L_q; loss map.</a:t>
            </a:r>
          </a:p>
          <a:p>
            <a:pPr>
              <a:spcAft>
                <a:spcPts val="500"/>
              </a:spcAft>
              <a:defRPr sz="1800" i="0" b="0"/>
            </a:pPr>
            <a:r>
              <a:t>Exchange: pyleecan in/out, FEMM Lua, Elmer, gmsh/GetDP, MATLAB, DXF, VTK, CSV/Parquet/HDF5 contracts.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09360"/>
            <a:ext cx="1136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i="1" b="0">
                <a:solidFill>
                  <a:srgbClr val="555555"/>
                </a:solidFill>
              </a:defRPr>
            </a:pPr>
            <a:r>
              <a:t>Limits: see the Limits section of docs/guides/electromagnetics.md.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